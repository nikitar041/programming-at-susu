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307" r:id="rId3"/>
    <p:sldId id="294" r:id="rId4"/>
    <p:sldId id="311" r:id="rId5"/>
    <p:sldId id="296" r:id="rId6"/>
    <p:sldId id="297" r:id="rId7"/>
    <p:sldId id="298" r:id="rId8"/>
    <p:sldId id="310" r:id="rId9"/>
    <p:sldId id="303" r:id="rId10"/>
    <p:sldId id="309" r:id="rId11"/>
    <p:sldId id="305" r:id="rId12"/>
    <p:sldId id="308" r:id="rId13"/>
    <p:sldId id="306" r:id="rId14"/>
    <p:sldId id="312" r:id="rId15"/>
  </p:sldIdLst>
  <p:sldSz cx="9144000" cy="6858000" type="screen4x3"/>
  <p:notesSz cx="6669088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429" autoAdjust="0"/>
  </p:normalViewPr>
  <p:slideViewPr>
    <p:cSldViewPr>
      <p:cViewPr varScale="1">
        <p:scale>
          <a:sx n="80" d="100"/>
          <a:sy n="80" d="100"/>
        </p:scale>
        <p:origin x="15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CDA41-9AD2-4408-8700-75A08895A0B1}" type="datetimeFigureOut">
              <a:rPr lang="ru-RU" smtClean="0"/>
              <a:pPr/>
              <a:t>15.11.2024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15153"/>
            <a:ext cx="533527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17A4A-92CF-487F-AE11-E26B175BDAD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11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A8874-46ED-4103-86D4-4F58E3FB3322}" type="datetime1">
              <a:rPr lang="ru-RU" smtClean="0"/>
              <a:pPr/>
              <a:t>15.11.2024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8121-273B-42D4-AA7C-342DE799F387}" type="datetime1">
              <a:rPr lang="ru-RU" smtClean="0"/>
              <a:pPr/>
              <a:t>15.11.2024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34E6E-504E-427E-BFB3-07921FFF65C7}" type="datetime1">
              <a:rPr lang="ru-RU" smtClean="0"/>
              <a:pPr/>
              <a:t>15.11.2024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27638-CE63-4606-A2A0-C6F4E7812F92}" type="datetime1">
              <a:rPr lang="ru-RU" smtClean="0"/>
              <a:pPr/>
              <a:t>15.11.2024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8EBF-5C85-4A90-9041-434B9A3F2E87}" type="datetime1">
              <a:rPr lang="ru-RU" smtClean="0"/>
              <a:pPr/>
              <a:t>15.11.2024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305EF-3C56-4071-98F1-77160D96CAB7}" type="datetime1">
              <a:rPr lang="ru-RU" smtClean="0"/>
              <a:pPr/>
              <a:t>15.11.2024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38E61-76B4-45D9-97B3-221DA87B9C72}" type="datetime1">
              <a:rPr lang="ru-RU" smtClean="0"/>
              <a:pPr/>
              <a:t>15.11.2024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738B-4C32-49DE-928B-17371C64B957}" type="datetime1">
              <a:rPr lang="ru-RU" smtClean="0"/>
              <a:pPr/>
              <a:t>15.11.2024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44195-483B-41F0-ACCD-A16708CF8DDA}" type="datetime1">
              <a:rPr lang="ru-RU" smtClean="0"/>
              <a:pPr/>
              <a:t>15.11.2024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D076-8C9E-487C-A0AA-F90D5B75CE39}" type="datetime1">
              <a:rPr lang="ru-RU" smtClean="0"/>
              <a:pPr/>
              <a:t>15.11.2024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E8223-4F18-4E23-8774-E548DED51FF9}" type="datetime1">
              <a:rPr lang="ru-RU" smtClean="0"/>
              <a:pPr/>
              <a:t>15.11.2024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C77B7-2C64-4AEC-8C87-29211C8D1D51}" type="datetime1">
              <a:rPr lang="ru-RU" smtClean="0"/>
              <a:pPr/>
              <a:t>15.11.2024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645D3-62F2-4F42-AF41-58510AA7996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123110"/>
            <a:ext cx="91440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52095" algn="ctr">
              <a:spcAft>
                <a:spcPts val="0"/>
              </a:spcAft>
            </a:pPr>
            <a:r>
              <a:rPr lang="ru-RU" sz="1600" dirty="0">
                <a:latin typeface="Times New Roman" pitchFamily="18" charset="0"/>
                <a:ea typeface="Times New Roman"/>
                <a:cs typeface="Times New Roman" pitchFamily="18" charset="0"/>
              </a:rPr>
              <a:t>Министерство науки и высшего образования Российской Федерации</a:t>
            </a:r>
          </a:p>
          <a:p>
            <a:pPr indent="252095" algn="ctr">
              <a:spcAft>
                <a:spcPts val="0"/>
              </a:spcAft>
            </a:pPr>
            <a:r>
              <a:rPr lang="ru-RU" sz="1600" dirty="0">
                <a:latin typeface="Times New Roman" pitchFamily="18" charset="0"/>
                <a:ea typeface="Times New Roman"/>
                <a:cs typeface="Times New Roman" pitchFamily="18" charset="0"/>
              </a:rPr>
              <a:t>ФГАОУ ВО «Южно–Уральский государственный университет (НИУ)»</a:t>
            </a:r>
            <a:br>
              <a:rPr lang="ru-RU" sz="1600" dirty="0">
                <a:latin typeface="Times New Roman" pitchFamily="18" charset="0"/>
                <a:ea typeface="Times New Roman"/>
                <a:cs typeface="Times New Roman" pitchFamily="18" charset="0"/>
              </a:rPr>
            </a:br>
            <a:r>
              <a:rPr lang="ru-RU" sz="1600" dirty="0">
                <a:latin typeface="Times New Roman" pitchFamily="18" charset="0"/>
                <a:ea typeface="Times New Roman"/>
                <a:cs typeface="Times New Roman" pitchFamily="18" charset="0"/>
              </a:rPr>
              <a:t>Институт естественных и точных наук</a:t>
            </a:r>
          </a:p>
          <a:p>
            <a:pPr indent="252095" algn="ctr">
              <a:spcAft>
                <a:spcPts val="0"/>
              </a:spcAft>
            </a:pPr>
            <a:r>
              <a:rPr lang="ru-RU" sz="1600" dirty="0">
                <a:latin typeface="Times New Roman" pitchFamily="18" charset="0"/>
                <a:ea typeface="Times New Roman"/>
                <a:cs typeface="Times New Roman" pitchFamily="18" charset="0"/>
              </a:rPr>
              <a:t>Кафедра прикладной математики и программирования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970056"/>
            <a:ext cx="9144000" cy="1669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52413"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ПРАКТИЧЕСКАЯ РАБОТА</a:t>
            </a:r>
          </a:p>
          <a:p>
            <a:pPr indent="252413"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По дисциплине «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Технологии цифровизации и интернет вещей</a:t>
            </a:r>
            <a:r>
              <a:rPr lang="ru-RU" dirty="0">
                <a:latin typeface="Times New Roman" panose="02020603050405020304" pitchFamily="18" charset="0"/>
                <a:cs typeface="Times New Roman" pitchFamily="18" charset="0"/>
              </a:rPr>
              <a:t>»</a:t>
            </a:r>
          </a:p>
          <a:p>
            <a:pPr indent="252413"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b="1" dirty="0">
                <a:latin typeface="Times New Roman" panose="02020603050405020304" pitchFamily="18" charset="0"/>
                <a:cs typeface="Times New Roman" pitchFamily="18" charset="0"/>
              </a:rPr>
              <a:t>Анализ интерфейсов</a:t>
            </a: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5508104" y="4581128"/>
            <a:ext cx="363589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5241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71900" algn="l"/>
                <a:tab pos="3886200" algn="l"/>
              </a:tabLst>
            </a:pPr>
            <a:r>
              <a:rPr kumimoji="0" lang="ru-R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Автор работы</a:t>
            </a:r>
            <a:endParaRPr kumimoji="0" lang="ru-RU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25241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71900" algn="l"/>
                <a:tab pos="3886200" algn="l"/>
              </a:tabLst>
            </a:pPr>
            <a:r>
              <a:rPr lang="ru-RU" sz="1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</a:t>
            </a:r>
            <a:r>
              <a:rPr kumimoji="0" lang="ru-R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тудент группы ЕТ-</a:t>
            </a:r>
            <a:r>
              <a:rPr kumimoji="0" 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kumimoji="0" lang="ru-R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12</a:t>
            </a:r>
            <a:endParaRPr kumimoji="0" lang="ru-RU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indent="252413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3771900" algn="l"/>
                <a:tab pos="3886200" algn="l"/>
              </a:tabLst>
            </a:pPr>
            <a:r>
              <a:rPr kumimoji="0" 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Романов Н.М.</a:t>
            </a:r>
          </a:p>
          <a:p>
            <a:pPr lvl="0" indent="252413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3771900" algn="l"/>
                <a:tab pos="3886200" algn="l"/>
              </a:tabLst>
            </a:pPr>
            <a:endParaRPr kumimoji="0" 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     Руководитель:</a:t>
            </a:r>
          </a:p>
          <a:p>
            <a:pPr algn="just"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    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И.Л. 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Кафтанников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3614046" y="6475511"/>
            <a:ext cx="191590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Челябинск  2024</a:t>
            </a: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25BB66F-6C8C-4204-A7D3-7195CD3E1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21" y="745405"/>
            <a:ext cx="8229600" cy="5793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1" kern="1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Задание 4. Анализ интерфейсов.</a:t>
            </a:r>
            <a:endParaRPr lang="ru-RU" sz="2600" b="1" kern="1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NSimSun" panose="0201060903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600" kern="1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NSimSun" panose="0201060903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данном разделе презентации мы проведем анализ интерфейсов для выбранных датчиков, которые обеспечивают автоматизацию процессов в теплице.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типы интерфейсов, по которым происходит передача данных между компонентами системы, такие как датчики влажности, температуры, освещенности и качества воздуха.</a:t>
            </a:r>
            <a:endParaRPr lang="ru-RU" sz="2000" i="0" dirty="0"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166747-E278-4AF0-8505-20D1E71A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544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F780A63-0439-40B4-86B8-F6B128B9092B}"/>
              </a:ext>
            </a:extLst>
          </p:cNvPr>
          <p:cNvSpPr/>
          <p:nvPr/>
        </p:nvSpPr>
        <p:spPr>
          <a:xfrm>
            <a:off x="313980" y="3501008"/>
            <a:ext cx="5338140" cy="2160240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662AF00-F714-4AFC-B04E-27B40E3E5312}"/>
              </a:ext>
            </a:extLst>
          </p:cNvPr>
          <p:cNvSpPr/>
          <p:nvPr/>
        </p:nvSpPr>
        <p:spPr>
          <a:xfrm>
            <a:off x="323528" y="1816249"/>
            <a:ext cx="5328592" cy="1612751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8D0E70-41BC-5BF9-7605-9B20F3975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404664"/>
            <a:ext cx="8568952" cy="595168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DFRobot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Soil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Moisture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Sensor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v1.2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Этот </a:t>
            </a: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датчик относится к сервису «автоматической системе полива растений»</a:t>
            </a: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Назначение: </a:t>
            </a:r>
            <a:b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Передача данных на контроллер </a:t>
            </a:r>
            <a:b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автоматического управления </a:t>
            </a:r>
            <a:b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поливом;</a:t>
            </a:r>
          </a:p>
          <a:p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Тип среды передачи данных: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Проводной, датчик соединяется </a:t>
            </a:r>
            <a:b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 микроконтроллером через </a:t>
            </a:r>
            <a:b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аналоговый или цифровой </a:t>
            </a:r>
            <a:b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интерфейс;</a:t>
            </a:r>
          </a:p>
          <a:p>
            <a:endParaRPr lang="ru-RU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E4ED49-902E-2A0F-469D-86678699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5860E2-71DB-46DD-9D88-DB67B2A64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5" y="1484784"/>
            <a:ext cx="3024336" cy="479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4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81672A-29D2-49E5-8ABD-4D11EDA77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6809"/>
            <a:ext cx="8229600" cy="485774"/>
          </a:xfrm>
        </p:spPr>
        <p:txBody>
          <a:bodyPr>
            <a:normAutofit fontScale="90000"/>
          </a:bodyPr>
          <a:lstStyle/>
          <a:p>
            <a:r>
              <a:rPr lang="ru-RU" sz="31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DFRobot</a:t>
            </a:r>
            <a:r>
              <a:rPr lang="ru-RU" sz="3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1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Soil</a:t>
            </a:r>
            <a:r>
              <a:rPr lang="ru-RU" sz="3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1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Moisture</a:t>
            </a:r>
            <a:r>
              <a:rPr lang="ru-RU" sz="3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1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Sensor</a:t>
            </a:r>
            <a:r>
              <a:rPr lang="ru-RU" sz="3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v1.2</a:t>
            </a:r>
            <a:r>
              <a:rPr lang="ru-RU" sz="3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08BC0-0F78-41D7-99C2-769CEC443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544616"/>
          </a:xfrm>
        </p:spPr>
        <p:txBody>
          <a:bodyPr>
            <a:normAutofit/>
          </a:bodyPr>
          <a:lstStyle/>
          <a:p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Вид и характеристика сигнала: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Аналоговый сигнал от диапазона 0 до 3.3В, а также цифровой сигнал.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Тип интерфейса: </a:t>
            </a:r>
            <a:b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Последовательная передача данных, которая осуществляется в аналоговом или цифровом формате (от настроек порта);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Тип и вид кодирования: </a:t>
            </a:r>
            <a:b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Аналоговый сигнал передается в виде изменяющегося напряжения, а цифровой – в виде двоичных сигналов высокого (1) или низкого уровня (0);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2C1BCC-B3D7-40E1-96D7-49335C78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6BE9279-7346-4CEE-97CF-ED1D7C62C940}"/>
              </a:ext>
            </a:extLst>
          </p:cNvPr>
          <p:cNvSpPr/>
          <p:nvPr/>
        </p:nvSpPr>
        <p:spPr>
          <a:xfrm>
            <a:off x="457200" y="890438"/>
            <a:ext cx="8075240" cy="1242418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0EA3496-6FEF-41EE-B07A-B6FAED172C39}"/>
              </a:ext>
            </a:extLst>
          </p:cNvPr>
          <p:cNvSpPr/>
          <p:nvPr/>
        </p:nvSpPr>
        <p:spPr>
          <a:xfrm>
            <a:off x="457200" y="2223598"/>
            <a:ext cx="8075240" cy="1681162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067824A-BB28-4DE7-9ABF-23B87EA1E3D0}"/>
              </a:ext>
            </a:extLst>
          </p:cNvPr>
          <p:cNvSpPr/>
          <p:nvPr/>
        </p:nvSpPr>
        <p:spPr>
          <a:xfrm>
            <a:off x="457200" y="3995502"/>
            <a:ext cx="8075240" cy="2169802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282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18D0E70-41BC-5BF9-7605-9B20F3975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544616"/>
          </a:xfrm>
        </p:spPr>
        <p:txBody>
          <a:bodyPr>
            <a:normAutofit/>
          </a:bodyPr>
          <a:lstStyle/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Конструктивные элементы: </a:t>
            </a:r>
            <a:br>
              <a:rPr lang="en-US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Подключение через стандартные штыревые разъемы. И имеет три контакта –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VCC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GND 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сигнальный вывод, который подключаются к аналоговому или цифровому порту контроллера;</a:t>
            </a: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Скорость передачи данных: </a:t>
            </a:r>
            <a:br>
              <a:rPr lang="en-US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Скорость передачи данных зависит от преобразования аналогового сигнала контроллером, что позволяет быстро реагировать на изменения уровня влажности.</a:t>
            </a: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E4ED49-902E-2A0F-469D-86678699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57E70AC-AE93-49B1-A29B-71DFD641CC03}"/>
              </a:ext>
            </a:extLst>
          </p:cNvPr>
          <p:cNvSpPr/>
          <p:nvPr/>
        </p:nvSpPr>
        <p:spPr>
          <a:xfrm>
            <a:off x="464769" y="1052736"/>
            <a:ext cx="8075240" cy="19442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8E574A4-E9D4-4135-9BBA-AC72CEA34C22}"/>
              </a:ext>
            </a:extLst>
          </p:cNvPr>
          <p:cNvSpPr/>
          <p:nvPr/>
        </p:nvSpPr>
        <p:spPr>
          <a:xfrm>
            <a:off x="464769" y="3140968"/>
            <a:ext cx="8075240" cy="158417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B5FD68-1A41-44ED-A38C-54F4306CDEA2}"/>
              </a:ext>
            </a:extLst>
          </p:cNvPr>
          <p:cNvSpPr/>
          <p:nvPr/>
        </p:nvSpPr>
        <p:spPr>
          <a:xfrm>
            <a:off x="457200" y="1052736"/>
            <a:ext cx="8075240" cy="1944216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3002E40-3826-4898-AC63-A6E18649AB85}"/>
              </a:ext>
            </a:extLst>
          </p:cNvPr>
          <p:cNvSpPr/>
          <p:nvPr/>
        </p:nvSpPr>
        <p:spPr>
          <a:xfrm>
            <a:off x="457200" y="3140968"/>
            <a:ext cx="8075240" cy="1584176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28E92A-9904-4B39-A525-CB3EA16CD054}"/>
              </a:ext>
            </a:extLst>
          </p:cNvPr>
          <p:cNvSpPr txBox="1"/>
          <p:nvPr/>
        </p:nvSpPr>
        <p:spPr>
          <a:xfrm>
            <a:off x="1763688" y="177895"/>
            <a:ext cx="6327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DFRobot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Soil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Moisture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Sensor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v1.2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16813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18D0E70-41BC-5BF9-7605-9B20F3975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260648"/>
            <a:ext cx="8435280" cy="59046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BH1750</a:t>
            </a:r>
            <a:endParaRPr lang="en-US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Этот </a:t>
            </a: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датчик относится к сервису «автоматической</a:t>
            </a: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регулировки освещения»</a:t>
            </a:r>
            <a:b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Назначение: </a:t>
            </a:r>
            <a:br>
              <a:rPr lang="en-US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Передача данных об уровне</a:t>
            </a:r>
            <a:b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освещенности на контроллер </a:t>
            </a:r>
            <a:b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управления системой </a:t>
            </a:r>
            <a:b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искусственного освещения;</a:t>
            </a:r>
            <a:endParaRPr lang="en-US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Тип среды передачи данных: </a:t>
            </a:r>
            <a:br>
              <a:rPr lang="en-US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Проводной, интерфейс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endParaRPr lang="ru-RU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E4ED49-902E-2A0F-469D-86678699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2F48EAB-AE86-4A2F-9C78-95EFE98C7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1722524"/>
            <a:ext cx="3816424" cy="3447837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878A6AE-9ED4-4CB4-A5A6-1801D82C62E8}"/>
              </a:ext>
            </a:extLst>
          </p:cNvPr>
          <p:cNvSpPr/>
          <p:nvPr/>
        </p:nvSpPr>
        <p:spPr>
          <a:xfrm>
            <a:off x="323528" y="2132856"/>
            <a:ext cx="4680520" cy="1944216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F4004CB-4FF4-4EC1-B7B3-A65F1DE1866B}"/>
              </a:ext>
            </a:extLst>
          </p:cNvPr>
          <p:cNvSpPr/>
          <p:nvPr/>
        </p:nvSpPr>
        <p:spPr>
          <a:xfrm>
            <a:off x="335757" y="4179180"/>
            <a:ext cx="4680520" cy="833996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384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0D27E6-36A1-BB6A-5216-77765A0C1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640" y="547718"/>
            <a:ext cx="3394720" cy="311088"/>
          </a:xfrm>
        </p:spPr>
        <p:txBody>
          <a:bodyPr>
            <a:noAutofit/>
          </a:bodyPr>
          <a:lstStyle/>
          <a:p>
            <a:r>
              <a:rPr lang="ru-RU" sz="28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BH1750</a:t>
            </a:r>
            <a:br>
              <a:rPr lang="ru-RU" sz="1100" dirty="0">
                <a:effectLst/>
              </a:rPr>
            </a:br>
            <a:endParaRPr lang="en-US" sz="2600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1FCA19-554B-FB54-AAA9-647CEC9BE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C783738-5C61-4460-98DC-796F4BE7B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19"/>
            <a:ext cx="8229600" cy="5246019"/>
          </a:xfrm>
        </p:spPr>
        <p:txBody>
          <a:bodyPr/>
          <a:lstStyle/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Вид и характеристика сигнала: </a:t>
            </a:r>
            <a:br>
              <a:rPr lang="en-US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Дискретный, цифровой сигнал, передающий данные в люксах;</a:t>
            </a: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Тип интерфейса: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Последовательный интерфейс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поддерживающий два провода (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SDA 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SCL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для передачи данных и тактирования;</a:t>
            </a: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Тип и вид кодирования: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Стандартный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-протокол, который допускает несколько устройств на одной шине;</a:t>
            </a:r>
          </a:p>
          <a:p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A3C6C7-5625-4656-9359-7326992EFFC0}"/>
              </a:ext>
            </a:extLst>
          </p:cNvPr>
          <p:cNvSpPr/>
          <p:nvPr/>
        </p:nvSpPr>
        <p:spPr>
          <a:xfrm>
            <a:off x="457200" y="929282"/>
            <a:ext cx="8229600" cy="1203574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E2685D1-4C43-4C4E-BCB5-FB45BD42215B}"/>
              </a:ext>
            </a:extLst>
          </p:cNvPr>
          <p:cNvSpPr/>
          <p:nvPr/>
        </p:nvSpPr>
        <p:spPr>
          <a:xfrm>
            <a:off x="457200" y="2276872"/>
            <a:ext cx="8229600" cy="1512168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37F85D-06A8-4C36-A14B-EE5BEAF488D4}"/>
              </a:ext>
            </a:extLst>
          </p:cNvPr>
          <p:cNvSpPr/>
          <p:nvPr/>
        </p:nvSpPr>
        <p:spPr>
          <a:xfrm>
            <a:off x="457200" y="3933056"/>
            <a:ext cx="8229600" cy="1152128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874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50D729-1E05-40A4-B10A-651E4268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ACD382-8D17-4EAE-B31F-89A98E304768}"/>
              </a:ext>
            </a:extLst>
          </p:cNvPr>
          <p:cNvSpPr txBox="1"/>
          <p:nvPr/>
        </p:nvSpPr>
        <p:spPr>
          <a:xfrm>
            <a:off x="2636565" y="116632"/>
            <a:ext cx="3870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BH1750</a:t>
            </a:r>
            <a:endParaRPr lang="ru-RU" sz="2800" dirty="0">
              <a:effectLst/>
            </a:endParaRPr>
          </a:p>
          <a:p>
            <a:endParaRPr lang="ru-RU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03F4D1-5D60-4BA7-986F-0091614D4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39962"/>
            <a:ext cx="8229600" cy="4621286"/>
          </a:xfrm>
        </p:spPr>
        <p:txBody>
          <a:bodyPr>
            <a:normAutofit/>
          </a:bodyPr>
          <a:lstStyle/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Конструктивные элементы: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Двухпроводной интерфейс с клеммами для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SDA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SCL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компактный разъем для подключения к контроллеру;</a:t>
            </a: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Скорость передачи данных: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 400 Кбит/с., что позволяет оперативно обновлять данные об освещенности.</a:t>
            </a:r>
          </a:p>
          <a:p>
            <a:endParaRPr lang="ru-RU" sz="2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DCE3E4-C887-4096-96C8-9100C76431F0}"/>
              </a:ext>
            </a:extLst>
          </p:cNvPr>
          <p:cNvSpPr/>
          <p:nvPr/>
        </p:nvSpPr>
        <p:spPr>
          <a:xfrm>
            <a:off x="467891" y="1073100"/>
            <a:ext cx="8229600" cy="1635819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6510A07-114E-456F-86CA-4AA28BC10917}"/>
              </a:ext>
            </a:extLst>
          </p:cNvPr>
          <p:cNvSpPr/>
          <p:nvPr/>
        </p:nvSpPr>
        <p:spPr>
          <a:xfrm>
            <a:off x="467891" y="2827957"/>
            <a:ext cx="8257008" cy="1134443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398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18D0E70-41BC-5BF9-7605-9B20F3975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9685"/>
            <a:ext cx="8229600" cy="424943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DS18B20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Этот </a:t>
            </a: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датчик относится к сервису «автоматической</a:t>
            </a: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регулировки</a:t>
            </a: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температуры»</a:t>
            </a: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Назначение:</a:t>
            </a:r>
            <a:br>
              <a:rPr lang="en-US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Передача данных о температуре </a:t>
            </a:r>
            <a:b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воздуха на контроллер </a:t>
            </a:r>
            <a:b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регулировки температуры;</a:t>
            </a:r>
            <a:endParaRPr lang="en-US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Тип среды передачи данных: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Проводной, интерфейс 1-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Symbol" panose="05050102010706020507" pitchFamily="18" charset="2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E4ED49-902E-2A0F-469D-86678699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5C6617-59D0-4E40-BDC1-13D867899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512" y="1531749"/>
            <a:ext cx="2592288" cy="250496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D8C219E-8AFA-4423-9DE7-FFDFB725C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512" y="4222052"/>
            <a:ext cx="2592288" cy="2484277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896A4EA-BBD4-4EEA-B04B-5B14B3AB9753}"/>
              </a:ext>
            </a:extLst>
          </p:cNvPr>
          <p:cNvSpPr/>
          <p:nvPr/>
        </p:nvSpPr>
        <p:spPr>
          <a:xfrm>
            <a:off x="539552" y="1683326"/>
            <a:ext cx="4896544" cy="1601658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E80B4F5-A463-4670-A40B-59FFA48A7D72}"/>
              </a:ext>
            </a:extLst>
          </p:cNvPr>
          <p:cNvSpPr/>
          <p:nvPr/>
        </p:nvSpPr>
        <p:spPr>
          <a:xfrm>
            <a:off x="539552" y="3356992"/>
            <a:ext cx="4896544" cy="865060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978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29C544-D60A-4938-9412-38F6FA76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2F71DB-2E06-41C2-BA5C-1A6C85AC4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448" y="925141"/>
            <a:ext cx="8147248" cy="5505475"/>
          </a:xfrm>
        </p:spPr>
        <p:txBody>
          <a:bodyPr>
            <a:noAutofit/>
          </a:bodyPr>
          <a:lstStyle/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Вид и характеристика сигнала: </a:t>
            </a:r>
            <a:br>
              <a:rPr lang="en-US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Дискретный, цифровой сигнал с 9 или 12 битным разрешением, что обеспечивает точное считывание температуры;</a:t>
            </a: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Тип интерфейса: </a:t>
            </a:r>
            <a:br>
              <a:rPr lang="en-US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Последовательный 1-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все датчики могут подключаться к одному проводу, упрощая монтаж;</a:t>
            </a: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Тип и вид кодирования: </a:t>
            </a:r>
            <a:br>
              <a:rPr lang="en-US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1-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используют специфический протокол кодирования данных, что обеспечивает надежную передачу данных по одному проводу;</a:t>
            </a:r>
          </a:p>
          <a:p>
            <a:endParaRPr lang="ru-RU" sz="2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FB4AED2-8B37-4E35-8623-D252AE2ECAA7}"/>
              </a:ext>
            </a:extLst>
          </p:cNvPr>
          <p:cNvSpPr/>
          <p:nvPr/>
        </p:nvSpPr>
        <p:spPr>
          <a:xfrm>
            <a:off x="539552" y="908720"/>
            <a:ext cx="7920880" cy="1623417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6E9F27D-A4CD-432D-B458-C5CD297B29F7}"/>
              </a:ext>
            </a:extLst>
          </p:cNvPr>
          <p:cNvSpPr/>
          <p:nvPr/>
        </p:nvSpPr>
        <p:spPr>
          <a:xfrm>
            <a:off x="539552" y="2676154"/>
            <a:ext cx="7920880" cy="1152128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D7CA058-9FC3-43F3-8E09-4F9D0FEB5D53}"/>
              </a:ext>
            </a:extLst>
          </p:cNvPr>
          <p:cNvSpPr/>
          <p:nvPr/>
        </p:nvSpPr>
        <p:spPr>
          <a:xfrm>
            <a:off x="539552" y="3972299"/>
            <a:ext cx="7920880" cy="1584174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50578-3435-44F3-86A7-4372DB9B5B05}"/>
              </a:ext>
            </a:extLst>
          </p:cNvPr>
          <p:cNvSpPr txBox="1"/>
          <p:nvPr/>
        </p:nvSpPr>
        <p:spPr>
          <a:xfrm>
            <a:off x="2123728" y="188640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DS18B20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755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6D19991-E7F5-F54E-2C72-611812A1F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6322"/>
            <a:ext cx="8229600" cy="568496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DS18B20</a:t>
            </a:r>
            <a:endParaRPr lang="en-US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Конструктивные элементы: </a:t>
            </a:r>
            <a:br>
              <a:rPr lang="en-US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Один трехпроводной разъем (земля, питание, передача данных);</a:t>
            </a:r>
            <a:endParaRPr lang="en-US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Скорость передачи данных: </a:t>
            </a:r>
            <a:br>
              <a:rPr lang="en-US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 16 Кбит/с., что достаточно для мониторинга температуры.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600" b="1" i="0" dirty="0">
              <a:solidFill>
                <a:srgbClr val="222222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5DA678-F7DB-81A9-11BA-AB991CD4B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FE50B6D-3490-45C2-8A5E-A384526B4820}"/>
              </a:ext>
            </a:extLst>
          </p:cNvPr>
          <p:cNvSpPr/>
          <p:nvPr/>
        </p:nvSpPr>
        <p:spPr>
          <a:xfrm>
            <a:off x="457200" y="1340768"/>
            <a:ext cx="7643192" cy="1296144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0AA2903-D838-4C3F-ADE9-0A9B34CF0377}"/>
              </a:ext>
            </a:extLst>
          </p:cNvPr>
          <p:cNvSpPr/>
          <p:nvPr/>
        </p:nvSpPr>
        <p:spPr>
          <a:xfrm>
            <a:off x="457200" y="2744926"/>
            <a:ext cx="7643192" cy="1188130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771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DBF615-40F8-4618-9192-9BCEA5C3F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AD8494-61CC-4FDA-BF0C-586E5F0EF448}"/>
              </a:ext>
            </a:extLst>
          </p:cNvPr>
          <p:cNvSpPr txBox="1"/>
          <p:nvPr/>
        </p:nvSpPr>
        <p:spPr>
          <a:xfrm>
            <a:off x="2987824" y="232073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MH-Z19B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B77F8C-C769-4A77-9BA4-BCA46299B598}"/>
              </a:ext>
            </a:extLst>
          </p:cNvPr>
          <p:cNvSpPr txBox="1"/>
          <p:nvPr/>
        </p:nvSpPr>
        <p:spPr>
          <a:xfrm>
            <a:off x="323528" y="755292"/>
            <a:ext cx="8496944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Этот </a:t>
            </a: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датчик относится к сервису «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автоматической системе проветривания</a:t>
            </a: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Назначение: </a:t>
            </a:r>
            <a:b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Измерение и передача данных </a:t>
            </a:r>
            <a:b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 качестве воздуха </a:t>
            </a:r>
            <a:b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микроконтроллер через </a:t>
            </a:r>
            <a:b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UART 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или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PWM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интерфейсам;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Тип среды передачи данных: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Проводной, используя </a:t>
            </a:r>
            <a:b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последовательный интерфейс;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9BCF92-9462-45E3-A5CD-23627F8C3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730" y="1476878"/>
            <a:ext cx="2798662" cy="248550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BA339C2-F2E5-4987-8FAA-7855515CC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730" y="4149080"/>
            <a:ext cx="3630773" cy="2388666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5718F87-9BFE-4F39-B677-6908E4CBBE12}"/>
              </a:ext>
            </a:extLst>
          </p:cNvPr>
          <p:cNvSpPr/>
          <p:nvPr/>
        </p:nvSpPr>
        <p:spPr>
          <a:xfrm>
            <a:off x="350615" y="1628800"/>
            <a:ext cx="5085481" cy="1966758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C770A64-FEF4-4DA4-AC78-A789BBC327E4}"/>
              </a:ext>
            </a:extLst>
          </p:cNvPr>
          <p:cNvSpPr/>
          <p:nvPr/>
        </p:nvSpPr>
        <p:spPr>
          <a:xfrm>
            <a:off x="350615" y="3647757"/>
            <a:ext cx="5085482" cy="1188130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554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E279753-64FF-E907-AAD8-2D27E0429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664" y="548680"/>
            <a:ext cx="8229600" cy="580767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8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MH-Z19B</a:t>
            </a: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Вид и характеристика сигнала: </a:t>
            </a:r>
            <a:b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Аналоговый сигнал по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PWM 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передача данных в формате импульсов с регулируемой шириной; Цифровой сигнал по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UART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надежная и точная передача данных;</a:t>
            </a: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Тип интерфейса: </a:t>
            </a:r>
            <a:b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Последовательный 1-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Тип и вид кодирования: </a:t>
            </a:r>
            <a:b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UART 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данные передаются в формате двоичного протокола, а стандартная скорость передача данных – 9600 бит/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PWM 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кодирование осуществляется через ширину импульсов, где длительность импульса соответствует уровню концентрации СО</a:t>
            </a:r>
            <a:r>
              <a:rPr lang="ru-RU" sz="26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902ED5-D560-E8D9-F841-9680E73FC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D0D710D-DCB9-4E36-A1CB-BC98506970BA}"/>
              </a:ext>
            </a:extLst>
          </p:cNvPr>
          <p:cNvSpPr/>
          <p:nvPr/>
        </p:nvSpPr>
        <p:spPr>
          <a:xfrm>
            <a:off x="469736" y="1124744"/>
            <a:ext cx="8229600" cy="1966758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5E448A3-12D3-4B26-A112-04EC9CC5AEEE}"/>
              </a:ext>
            </a:extLst>
          </p:cNvPr>
          <p:cNvSpPr/>
          <p:nvPr/>
        </p:nvSpPr>
        <p:spPr>
          <a:xfrm>
            <a:off x="469736" y="4077072"/>
            <a:ext cx="8229600" cy="2376264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A8FF31D-AF58-48CD-9EB5-DD70BAE8AF3B}"/>
              </a:ext>
            </a:extLst>
          </p:cNvPr>
          <p:cNvSpPr/>
          <p:nvPr/>
        </p:nvSpPr>
        <p:spPr>
          <a:xfrm>
            <a:off x="469736" y="3210326"/>
            <a:ext cx="8204528" cy="769759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652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43C9E8-F319-4BDA-A426-47ECAB792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0948"/>
            <a:ext cx="8229600" cy="634082"/>
          </a:xfrm>
        </p:spPr>
        <p:txBody>
          <a:bodyPr>
            <a:normAutofit/>
          </a:bodyPr>
          <a:lstStyle/>
          <a:p>
            <a:r>
              <a:rPr lang="ru-RU" sz="28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MH-Z19B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F82AFE-DDD9-4DDA-9755-880935023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Конструктивные элементы: </a:t>
            </a:r>
            <a:b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Датчик имеет стандартные штыревые контакты к источнику питания (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VCC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GND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и передачи данных (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TX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RX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PWM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 Кроме этого, оснащен разъёмами для подключения к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UART 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или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PWM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интерфейсу;</a:t>
            </a:r>
          </a:p>
          <a:p>
            <a: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Скорость передачи данных: </a:t>
            </a:r>
            <a:br>
              <a:rPr lang="ru-RU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Скорость передачи данных через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UART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составляет 9600 бит/с, что позволяет датчику передавать обновления в режиме реального времени; В режиме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PWM 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период обновления составляет примерно 2 секунды, что обеспечивает быструю реакцию для мониторинга качества воздуха.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A510F-E10C-4913-853D-A661238A6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45D3-62F2-4F42-AF41-58510AA79962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DE8AA95-5824-4779-BD8E-B0A2E3847C98}"/>
              </a:ext>
            </a:extLst>
          </p:cNvPr>
          <p:cNvSpPr/>
          <p:nvPr/>
        </p:nvSpPr>
        <p:spPr>
          <a:xfrm>
            <a:off x="457200" y="1052736"/>
            <a:ext cx="8229600" cy="1944216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266B067-93E7-48AC-A9BD-4555A79DE241}"/>
              </a:ext>
            </a:extLst>
          </p:cNvPr>
          <p:cNvSpPr/>
          <p:nvPr/>
        </p:nvSpPr>
        <p:spPr>
          <a:xfrm>
            <a:off x="457200" y="3140968"/>
            <a:ext cx="8229600" cy="2736304"/>
          </a:xfrm>
          <a:prstGeom prst="rect">
            <a:avLst/>
          </a:prstGeom>
          <a:noFill/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99790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1665</TotalTime>
  <Words>813</Words>
  <Application>Microsoft Office PowerPoint</Application>
  <PresentationFormat>Экран (4:3)</PresentationFormat>
  <Paragraphs>80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DFRobot Soil Moisture Sensor v1.2  </vt:lpstr>
      <vt:lpstr>Презентация PowerPoint</vt:lpstr>
      <vt:lpstr>Презентация PowerPoint</vt:lpstr>
      <vt:lpstr>BH1750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MH-Z19B</vt:lpstr>
    </vt:vector>
  </TitlesOfParts>
  <Company>XYZ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Вологин Константин</dc:creator>
  <cp:lastModifiedBy>Никита Романов</cp:lastModifiedBy>
  <cp:revision>165</cp:revision>
  <dcterms:created xsi:type="dcterms:W3CDTF">2016-05-24T05:49:50Z</dcterms:created>
  <dcterms:modified xsi:type="dcterms:W3CDTF">2024-11-15T19:35:32Z</dcterms:modified>
</cp:coreProperties>
</file>